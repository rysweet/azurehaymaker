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ysweet/AzureHayMaker/tree/main/docs/knowledge-worker-framework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ysweet/AzureHayMaker/blob/main/src/azure_haymaker/knowledge_worker/identity/user_manager.py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ysweet/AzureHayMaker/tree/main/src/azure_haymaker/knowledge_worker/operation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ysweet/AzureHayMaker/blob/main/src/azure_haymaker/knowledge_worker/orchestrator.py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ysweet/AzureHayMaker/tree/main/docs/knowledge-worker-framework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C2833"/>
                </a:solidFill>
              </a:defRPr>
            </a:pPr>
            <a:r>
              <a:t>Azure HayMaker</a:t>
            </a:r>
          </a:p>
          <a:p>
            <a:r>
              <a:t>Knowledge Worker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EA8A7"/>
                </a:solidFill>
              </a:defRPr>
            </a:pPr>
            <a:r>
              <a:t>Realistic M365 Activity Simulation at Scale</a:t>
            </a:r>
          </a:p>
          <a:p>
            <a:r>
              <a:t>50-Worker Deployment Proven | 2025-11-26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400"/>
            </a:pPr>
            <a:r>
              <a:t>1. Feature Intent &amp; Requirements</a:t>
            </a:r>
          </a:p>
          <a:p>
            <a:pPr>
              <a:spcAft>
                <a:spcPts val="1200"/>
              </a:spcAft>
              <a:defRPr sz="2400"/>
            </a:pPr>
            <a:r>
              <a:t>2. System Architecture with W365 Integration</a:t>
            </a:r>
          </a:p>
          <a:p>
            <a:pPr>
              <a:spcAft>
                <a:spcPts val="1200"/>
              </a:spcAft>
              <a:defRPr sz="2400"/>
            </a:pPr>
            <a:r>
              <a:t>3. Hybrid Endpoint Strategy (W365 + Containers)</a:t>
            </a:r>
          </a:p>
          <a:p>
            <a:pPr>
              <a:spcAft>
                <a:spcPts val="1200"/>
              </a:spcAft>
              <a:defRPr sz="2400"/>
            </a:pPr>
            <a:r>
              <a:t>4. M365 Operations &amp; Components</a:t>
            </a:r>
          </a:p>
          <a:p>
            <a:pPr>
              <a:spcAft>
                <a:spcPts val="1200"/>
              </a:spcAft>
              <a:defRPr sz="2400"/>
            </a:pPr>
            <a:r>
              <a:t>5. 50-Worker Deployment Results</a:t>
            </a:r>
          </a:p>
          <a:p>
            <a:pPr>
              <a:spcAft>
                <a:spcPts val="1200"/>
              </a:spcAft>
              <a:defRPr sz="2400"/>
            </a:pPr>
            <a:r>
              <a:t>6. Real M365 Telemetry Evidence</a:t>
            </a:r>
          </a:p>
          <a:p>
            <a:pPr>
              <a:spcAft>
                <a:spcPts val="1200"/>
              </a:spcAft>
              <a:defRPr sz="2400"/>
            </a:pPr>
            <a:r>
              <a:t>7. Implementation Links &amp;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Feature Intent: Realistic M365 Activity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5EA8A7"/>
                </a:solidFill>
              </a:defRPr>
            </a:pPr>
            <a:r>
              <a:t>Goal</a:t>
            </a:r>
          </a:p>
          <a:p>
            <a:pPr>
              <a:defRPr sz="1700"/>
            </a:pPr>
            <a:r>
              <a:t>Simulate 50-300 knowledge workers performing everyday M365 activities</a:t>
            </a:r>
          </a:p>
          <a:p/>
          <a:p>
            <a:pPr>
              <a:defRPr sz="2200" b="1">
                <a:solidFill>
                  <a:srgbClr val="5EA8A7"/>
                </a:solidFill>
              </a:defRPr>
            </a:pPr>
            <a:r>
              <a:t>Purpose</a:t>
            </a:r>
          </a:p>
          <a:p>
            <a:pPr>
              <a:defRPr sz="1700"/>
            </a:pPr>
            <a:r>
              <a:t>• Generate realistic benign telemetry for cybersecurity analysis</a:t>
            </a:r>
            <a:br/>
            <a:r>
              <a:t>• Test security products against real M365 activity patterns</a:t>
            </a:r>
            <a:br/>
            <a:r>
              <a:t>• Model office worker behavior (email, Teams, documents)</a:t>
            </a:r>
          </a:p>
          <a:p/>
          <a:p>
            <a:pPr>
              <a:defRPr sz="1800"/>
            </a:pPr>
            <a:r>
              <a:t>Scale: 50-300 workers | 5-8 departments | Multiple personas</a:t>
            </a:r>
          </a:p>
          <a:p>
            <a:pPr>
              <a:defRPr sz="1800"/>
            </a:pPr>
            <a:r>
              <a:t>Security: Internal-only communication | No external email</a:t>
            </a:r>
          </a:p>
          <a:p/>
          <a:p>
            <a:pPr>
              <a:defRPr sz="1800">
                <a:solidFill>
                  <a:srgbClr val="0078D4"/>
                </a:solidFill>
              </a:defRPr>
            </a:pPr>
            <a:r>
              <a:rPr>
                <a:hlinkClick r:id="rId2"/>
              </a:rPr>
              <a:t>📄 Documentation: https://github.com/rysweet/AzureHayMaker/tree/main/docs/knowledge-worker-framework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Three-Layer Architecture: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1. Identity &amp; Security Layer</a:t>
            </a:r>
          </a:p>
          <a:p>
            <a:pPr lvl="1">
              <a:defRPr sz="1600"/>
            </a:pPr>
            <a:r>
              <a:t>   • Entra User Manager - Creates/licenses KW users</a:t>
            </a:r>
          </a:p>
          <a:p>
            <a:pPr lvl="1">
              <a:defRPr sz="1600"/>
            </a:pPr>
            <a:r>
              <a:t>   • Security Groups - Team organization</a:t>
            </a:r>
          </a:p>
          <a:p>
            <a:pPr lvl="1">
              <a:defRPr sz="1600"/>
            </a:pPr>
            <a:r>
              <a:t>   • Transport Rules - Blocks external email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2. M365 Operations Layer  </a:t>
            </a:r>
          </a:p>
          <a:p>
            <a:pPr lvl="1">
              <a:defRPr sz="1600"/>
            </a:pPr>
            <a:r>
              <a:t>   • Email, Calendar, Teams, Document operations</a:t>
            </a:r>
          </a:p>
          <a:p>
            <a:pPr lvl="1">
              <a:defRPr sz="1600"/>
            </a:pPr>
            <a:r>
              <a:t>   • Communication validation (internal-only)</a:t>
            </a:r>
          </a:p>
          <a:p>
            <a:pPr lvl="1">
              <a:defRPr sz="1600"/>
            </a:pPr>
            <a:r>
              <a:t>   • Rate limiting and error handling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3. Hybrid Endpoint Layer</a:t>
            </a:r>
          </a:p>
          <a:p>
            <a:pPr lvl="1">
              <a:defRPr sz="1600"/>
            </a:pPr>
            <a:r>
              <a:t>   • Windows 365 Cloud PCs (10-50 users, high telemetry)</a:t>
            </a:r>
          </a:p>
          <a:p>
            <a:pPr lvl="1">
              <a:defRPr sz="1600"/>
            </a:pPr>
            <a:r>
              <a:t>   • M365 CLI Containers (50-250 users, cost-efficient)</a:t>
            </a:r>
          </a:p>
          <a:p>
            <a:pPr>
              <a:defRPr sz="1800"/>
            </a:pP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📊 Architecture Diagram: architecture_overview.mmd</a:t>
            </a: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📄 Full Documentation: docs/knowledge-worker-framework/ARCHITECTURE.md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B900"/>
                </a:solidFill>
              </a:defRPr>
            </a:pPr>
            <a:r>
              <a:t>Windows 365 Cloud PC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Full Windows 11 desktops for high-value workers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Key Benefits:</a:t>
            </a:r>
          </a:p>
          <a:p>
            <a:pPr lvl="1">
              <a:defRPr sz="1700"/>
            </a:pPr>
            <a:r>
              <a:t>• Rich telemetry - Process execution, file access, user behavior</a:t>
            </a:r>
          </a:p>
          <a:p>
            <a:pPr lvl="1">
              <a:defRPr sz="1700"/>
            </a:pPr>
            <a:r>
              <a:t>• Full Office apps - Outlook, Teams, OneDrive native clients</a:t>
            </a:r>
          </a:p>
          <a:p>
            <a:pPr lvl="1">
              <a:defRPr sz="1700"/>
            </a:pPr>
            <a:r>
              <a:t>• Persistent environment - Stateful sessions</a:t>
            </a:r>
          </a:p>
          <a:p>
            <a:pPr lvl="1">
              <a:defRPr sz="1700"/>
            </a:pPr>
            <a:r>
              <a:t>• Real endpoint - Distinct machine identity per worker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Deployment:</a:t>
            </a:r>
          </a:p>
          <a:p>
            <a:pPr lvl="1">
              <a:defRPr sz="1700"/>
            </a:pPr>
            <a:r>
              <a:t>• Provision via Graph API (/deviceManagement/virtualEndpoint)</a:t>
            </a:r>
          </a:p>
          <a:p>
            <a:pPr lvl="1">
              <a:defRPr sz="1700"/>
            </a:pPr>
            <a:r>
              <a:t>• Policy-based assignment to user groups</a:t>
            </a:r>
          </a:p>
          <a:p>
            <a:pPr lvl="1">
              <a:defRPr sz="1700"/>
            </a:pPr>
            <a:r>
              <a:t>• 30-60 minute provisioning time</a:t>
            </a:r>
          </a:p>
          <a:p>
            <a:pPr lvl="1">
              <a:defRPr sz="1700"/>
            </a:pPr>
            <a:r>
              <a:t>• Managed by Microsoft (Azure infrastructure)</a:t>
            </a:r>
          </a:p>
          <a:p>
            <a:pPr>
              <a:defRPr sz="1800"/>
            </a:pPr>
          </a:p>
          <a:p>
            <a:pPr>
              <a:defRPr sz="1500"/>
            </a:pPr>
            <a:r>
              <a:t>Cost: $20-50/user/month | Use for: Executives, Legal, HR managers</a:t>
            </a:r>
          </a:p>
          <a:p>
            <a:pPr>
              <a:defRPr sz="1800"/>
            </a:pPr>
          </a:p>
          <a:p>
            <a:pPr>
              <a:defRPr sz="1500">
                <a:solidFill>
                  <a:srgbClr val="0078D4"/>
                </a:solidFill>
              </a:defRPr>
            </a:pPr>
            <a:r>
              <a:t>💻 Implementation: endpoints/cloud_pc.py (507 lines)</a:t>
            </a:r>
          </a:p>
          <a:p>
            <a:pPr>
              <a:defRPr sz="1500">
                <a:solidFill>
                  <a:srgbClr val="0078D4"/>
                </a:solidFill>
              </a:defRPr>
            </a:pPr>
            <a:r>
              <a:t>📄 Documentation: docs/knowledge-worker-framework/WINDOWS365_CLOUD_PC.md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FBA00"/>
                </a:solidFill>
              </a:defRPr>
            </a:pPr>
            <a:r>
              <a:t>M365 CLI Containers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Python + M365 CLI in ephemeral containers for scale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Key Benefits:</a:t>
            </a:r>
          </a:p>
          <a:p>
            <a:pPr lvl="1">
              <a:defRPr sz="1700"/>
            </a:pPr>
            <a:r>
              <a:t>• Cost-effective scale - ~$3-5/container/month</a:t>
            </a:r>
          </a:p>
          <a:p>
            <a:pPr lvl="1">
              <a:defRPr sz="1700"/>
            </a:pPr>
            <a:r>
              <a:t>• Fast deployment - 30 seconds vs 30-60 minutes</a:t>
            </a:r>
          </a:p>
          <a:p>
            <a:pPr lvl="1">
              <a:defRPr sz="1700"/>
            </a:pPr>
            <a:r>
              <a:t>• API-only telemetry - Graph API call logs</a:t>
            </a:r>
          </a:p>
          <a:p>
            <a:pPr lvl="1">
              <a:defRPr sz="1700"/>
            </a:pPr>
            <a:r>
              <a:t>• Ephemeral - No persistent state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Deployment:</a:t>
            </a:r>
          </a:p>
          <a:p>
            <a:pPr lvl="1">
              <a:defRPr sz="1700"/>
            </a:pPr>
            <a:r>
              <a:t>• Azure Container Apps</a:t>
            </a:r>
          </a:p>
          <a:p>
            <a:pPr lvl="1">
              <a:defRPr sz="1700"/>
            </a:pPr>
            <a:r>
              <a:t>• 0.25 vCPU, 0.5GB RAM per container</a:t>
            </a:r>
          </a:p>
          <a:p>
            <a:pPr lvl="1">
              <a:defRPr sz="1700"/>
            </a:pPr>
            <a:r>
              <a:t>• Alpine Linux base with Node.js + Python</a:t>
            </a:r>
          </a:p>
          <a:p>
            <a:pPr lvl="1">
              <a:defRPr sz="1700"/>
            </a:pPr>
            <a:r>
              <a:t>• Certificate authentication to Graph API</a:t>
            </a:r>
          </a:p>
          <a:p>
            <a:pPr>
              <a:defRPr sz="1800"/>
            </a:pPr>
          </a:p>
          <a:p>
            <a:pPr>
              <a:defRPr sz="1500"/>
            </a:pPr>
            <a:r>
              <a:t>Running Environment: Azure Container Apps (Serverless)</a:t>
            </a:r>
          </a:p>
          <a:p>
            <a:pPr>
              <a:defRPr sz="1500"/>
            </a:pPr>
            <a:r>
              <a:t>Agent Execution: Python async tasks in orchestrator process</a:t>
            </a:r>
          </a:p>
          <a:p>
            <a:pPr>
              <a:defRPr sz="1800"/>
            </a:pPr>
          </a:p>
          <a:p>
            <a:pPr>
              <a:defRPr sz="1500"/>
            </a:pPr>
            <a:r>
              <a:t>Cost: ~$3-5/container/month | Use for: Scale (50-250 workers)</a:t>
            </a:r>
          </a:p>
          <a:p>
            <a:pPr>
              <a:defRPr sz="1800"/>
            </a:pPr>
          </a:p>
          <a:p>
            <a:pPr>
              <a:defRPr sz="1500">
                <a:solidFill>
                  <a:srgbClr val="0078D4"/>
                </a:solidFill>
              </a:defRPr>
            </a:pPr>
            <a:r>
              <a:t>💻 Implementation: endpoints/cli_container.py</a:t>
            </a:r>
          </a:p>
          <a:p>
            <a:pPr>
              <a:defRPr sz="1500">
                <a:solidFill>
                  <a:srgbClr val="0078D4"/>
                </a:solidFill>
              </a:defRPr>
            </a:pPr>
            <a:r>
              <a:t>📄 Execution Model: See deployment_workflow.mmd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Component: Identity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Entra User Manager + License Assignment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Responsibilities:</a:t>
            </a:r>
          </a:p>
          <a:p>
            <a:pPr lvl="1">
              <a:defRPr sz="1700"/>
            </a:pPr>
            <a:r>
              <a:t>• Create Knowledge Worker users via Graph API</a:t>
            </a:r>
          </a:p>
          <a:p>
            <a:pPr lvl="1">
              <a:defRPr sz="1700"/>
            </a:pPr>
            <a:r>
              <a:t>• Auto-assign E5 licenses (dynamic SKU detection)</a:t>
            </a:r>
          </a:p>
          <a:p>
            <a:pPr lvl="1">
              <a:defRPr sz="1700"/>
            </a:pPr>
            <a:r>
              <a:t>• Set usage location (required for licensing)</a:t>
            </a:r>
          </a:p>
          <a:p>
            <a:pPr lvl="1">
              <a:defRPr sz="1700"/>
            </a:pPr>
            <a:r>
              <a:t>• Manage user lifecycle and cleanup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Features:</a:t>
            </a:r>
          </a:p>
          <a:p>
            <a:pPr lvl="1">
              <a:defRPr sz="1700"/>
            </a:pPr>
            <a:r>
              <a:t>• Naming pattern: kw-{run_id}-{dept}-{index}</a:t>
            </a:r>
          </a:p>
          <a:p>
            <a:pPr lvl="1">
              <a:defRPr sz="1700"/>
            </a:pPr>
            <a:r>
              <a:t>• Dynamic E5 SKU detection (works on all tenant types)</a:t>
            </a:r>
          </a:p>
          <a:p>
            <a:pPr lvl="1">
              <a:defRPr sz="1700"/>
            </a:pPr>
            <a:r>
              <a:t>• Graceful license failure handling</a:t>
            </a:r>
          </a:p>
          <a:p>
            <a:pPr lvl="1">
              <a:defRPr sz="1700"/>
            </a:pPr>
            <a:r>
              <a:t>• Batch provisioning with rate limiting</a:t>
            </a:r>
          </a:p>
          <a:p>
            <a:pPr>
              <a:defRPr sz="1800"/>
            </a:pP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💻 Implementation: identity/user_manager.py (190 lines)</a:t>
            </a: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📄 Security Guide: docs/knowledge-worker-framework/SECURITY.md</a:t>
            </a:r>
          </a:p>
          <a:p>
            <a:pPr>
              <a:defRPr sz="1400">
                <a:solidFill>
                  <a:srgbClr val="0078D4"/>
                </a:solidFill>
              </a:defRPr>
            </a:pPr>
            <a:r>
              <a:rPr>
                <a:hlinkClick r:id="rId2"/>
              </a:rPr>
              <a:t>🔗 Code: https://github.com/rysweet/AzureHayMaker/blob/main/src/azure_haymaker/knowledge_worker/identity/user_manager.py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Component: M365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700"/>
            </a:pPr>
            <a:r>
              <a:t>Graph API-based operations with safety validation</a:t>
            </a:r>
          </a:p>
          <a:p>
            <a:pPr>
              <a:defRPr sz="1700"/>
            </a:pPr>
          </a:p>
          <a:p>
            <a:pPr>
              <a:defRPr sz="1900" b="1">
                <a:solidFill>
                  <a:srgbClr val="5EA8A7"/>
                </a:solidFill>
              </a:defRPr>
            </a:pPr>
            <a:r>
              <a:t>Email Operations:</a:t>
            </a:r>
          </a:p>
          <a:p>
            <a:pPr lvl="1">
              <a:defRPr sz="1600"/>
            </a:pPr>
            <a:r>
              <a:t>• Send email (to, cc, bcc) with internal-only validation</a:t>
            </a:r>
          </a:p>
          <a:p>
            <a:pPr lvl="1">
              <a:defRPr sz="1600"/>
            </a:pPr>
            <a:r>
              <a:t>• Read inbox, organize into folders</a:t>
            </a:r>
          </a:p>
          <a:p>
            <a:pPr lvl="1">
              <a:defRPr sz="1600"/>
            </a:pPr>
            <a:r>
              <a:t>• Reply and forward messages</a:t>
            </a:r>
          </a:p>
          <a:p>
            <a:pPr>
              <a:defRPr sz="1700"/>
            </a:pPr>
          </a:p>
          <a:p>
            <a:pPr>
              <a:defRPr sz="1900" b="1">
                <a:solidFill>
                  <a:srgbClr val="5EA8A7"/>
                </a:solidFill>
              </a:defRPr>
            </a:pPr>
            <a:r>
              <a:t>Calendar Operations:</a:t>
            </a:r>
          </a:p>
          <a:p>
            <a:pPr lvl="1">
              <a:defRPr sz="1600"/>
            </a:pPr>
            <a:r>
              <a:t>• Create events with attendees</a:t>
            </a:r>
          </a:p>
          <a:p>
            <a:pPr lvl="1">
              <a:defRPr sz="1600"/>
            </a:pPr>
            <a:r>
              <a:t>• Schedule online meetings (Teams integration)</a:t>
            </a:r>
          </a:p>
          <a:p>
            <a:pPr lvl="1">
              <a:defRPr sz="1600"/>
            </a:pPr>
            <a:r>
              <a:t>• Accept/decline invitations</a:t>
            </a:r>
          </a:p>
          <a:p>
            <a:pPr>
              <a:defRPr sz="1700"/>
            </a:pPr>
          </a:p>
          <a:p>
            <a:pPr>
              <a:defRPr sz="1900" b="1">
                <a:solidFill>
                  <a:srgbClr val="5EA8A7"/>
                </a:solidFill>
              </a:defRPr>
            </a:pPr>
            <a:r>
              <a:t>Teams &amp; Document Operations:</a:t>
            </a:r>
          </a:p>
          <a:p>
            <a:pPr lvl="1">
              <a:defRPr sz="1600"/>
            </a:pPr>
            <a:r>
              <a:t>• Post to channels, send direct messages</a:t>
            </a:r>
          </a:p>
          <a:p>
            <a:pPr lvl="1">
              <a:defRPr sz="1600"/>
            </a:pPr>
            <a:r>
              <a:t>• Create/share documents in SharePoint/OneDrive</a:t>
            </a:r>
          </a:p>
          <a:p>
            <a:pPr>
              <a:defRPr sz="1700"/>
            </a:pP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💻 Implementation: operations/{email,calendar,teams,documents}.py</a:t>
            </a:r>
          </a:p>
          <a:p>
            <a:pPr>
              <a:defRPr sz="1400">
                <a:solidFill>
                  <a:srgbClr val="0078D4"/>
                </a:solidFill>
              </a:defRPr>
            </a:pPr>
            <a:r>
              <a:rPr>
                <a:hlinkClick r:id="rId2"/>
              </a:rPr>
              <a:t>🔗 Code: https://github.com/rysweet/AzureHayMaker/tree/main/src/azure_haymaker/knowledge_worker/operations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Component: Knowledge Worker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700"/>
            </a:pPr>
            <a:r>
              <a:t>Manages deployment lifecycle through phases</a:t>
            </a:r>
          </a:p>
          <a:p>
            <a:pPr>
              <a:defRPr sz="1700"/>
            </a:pPr>
          </a:p>
          <a:p>
            <a:pPr>
              <a:defRPr sz="1900" b="1">
                <a:solidFill>
                  <a:srgbClr val="5EA8A7"/>
                </a:solidFill>
              </a:defRPr>
            </a:pPr>
            <a:r>
              <a:t>Deployment Phases:</a:t>
            </a:r>
          </a:p>
          <a:p>
            <a:pPr lvl="1">
              <a:defRPr sz="1600"/>
            </a:pPr>
            <a:r>
              <a:t>• Setup - Validate credentials and permissions</a:t>
            </a:r>
          </a:p>
          <a:p>
            <a:pPr lvl="1">
              <a:defRPr sz="1600"/>
            </a:pPr>
            <a:r>
              <a:t>• Provision - Create users, assign licenses, register workers</a:t>
            </a:r>
          </a:p>
          <a:p>
            <a:pPr lvl="1">
              <a:defRPr sz="1600"/>
            </a:pPr>
            <a:r>
              <a:t>• Execute - Launch async tasks for each worker</a:t>
            </a:r>
          </a:p>
          <a:p>
            <a:pPr lvl="1">
              <a:defRPr sz="1600"/>
            </a:pPr>
            <a:r>
              <a:t>• Cleanup - Remove all resources</a:t>
            </a:r>
          </a:p>
          <a:p>
            <a:pPr>
              <a:defRPr sz="1700"/>
            </a:pPr>
          </a:p>
          <a:p>
            <a:pPr>
              <a:defRPr sz="1900" b="1">
                <a:solidFill>
                  <a:srgbClr val="5EA8A7"/>
                </a:solidFill>
              </a:defRPr>
            </a:pPr>
            <a:r>
              <a:t>Key Features:</a:t>
            </a:r>
          </a:p>
          <a:p>
            <a:pPr lvl="1">
              <a:defRPr sz="1600"/>
            </a:pPr>
            <a:r>
              <a:t>• Always-live architecture (no simulation mode)</a:t>
            </a:r>
          </a:p>
          <a:p>
            <a:pPr lvl="1">
              <a:defRPr sz="1600"/>
            </a:pPr>
            <a:r>
              <a:t>• Requires graph_client (fails fast if missing)</a:t>
            </a:r>
          </a:p>
          <a:p>
            <a:pPr lvl="1">
              <a:defRPr sz="1600"/>
            </a:pPr>
            <a:r>
              <a:t>• WorkerRegistry for cross-worker communication</a:t>
            </a:r>
          </a:p>
          <a:p>
            <a:pPr lvl="1">
              <a:defRPr sz="1600"/>
            </a:pPr>
            <a:r>
              <a:t>• Async task management for concurrent workers</a:t>
            </a:r>
          </a:p>
          <a:p>
            <a:pPr>
              <a:defRPr sz="1700"/>
            </a:pPr>
          </a:p>
          <a:p>
            <a:pPr>
              <a:defRPr sz="1500"/>
            </a:pPr>
            <a:r>
              <a:t>Agent Execution: Python async tasks in orchestrator process</a:t>
            </a:r>
          </a:p>
          <a:p>
            <a:pPr>
              <a:defRPr sz="1500"/>
            </a:pPr>
            <a:r>
              <a:t>Where: Azure Container Apps or local Python environment</a:t>
            </a:r>
          </a:p>
          <a:p>
            <a:pPr>
              <a:defRPr sz="1700"/>
            </a:pPr>
          </a:p>
          <a:p>
            <a:pPr>
              <a:defRPr sz="1500">
                <a:solidFill>
                  <a:srgbClr val="0078D4"/>
                </a:solidFill>
              </a:defRPr>
            </a:pPr>
            <a:r>
              <a:t>💻 Implementation: orchestrator.py (619 lines)</a:t>
            </a:r>
          </a:p>
          <a:p>
            <a:pPr>
              <a:defRPr sz="1500">
                <a:solidFill>
                  <a:srgbClr val="0078D4"/>
                </a:solidFill>
              </a:defRPr>
            </a:pPr>
            <a:r>
              <a:rPr>
                <a:hlinkClick r:id="rId2"/>
              </a:rPr>
              <a:t>🔗 Code: https://github.com/rysweet/AzureHayMaker/blob/main/src/azure_haymaker/knowledge_worker/orchestrator.py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CC71"/>
                </a:solidFill>
              </a:defRPr>
            </a:pPr>
            <a:r>
              <a:t>🎯 50-Worker Deployment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ECC71"/>
                </a:solidFill>
              </a:defRPr>
            </a:pPr>
            <a:r>
              <a:t>50 Workers</a:t>
            </a:r>
          </a:p>
          <a:p>
            <a:pPr>
              <a:spcAft>
                <a:spcPts val="1800"/>
              </a:spcAft>
              <a:defRPr sz="1800">
                <a:solidFill>
                  <a:srgbClr val="7F8C8D"/>
                </a:solidFill>
              </a:defRPr>
            </a:pPr>
            <a:r>
              <a:t>Deployed successfully</a:t>
            </a:r>
          </a:p>
          <a:p>
            <a:pPr>
              <a:defRPr sz="3600" b="1">
                <a:solidFill>
                  <a:srgbClr val="2ECC71"/>
                </a:solidFill>
              </a:defRPr>
            </a:pPr>
            <a:r>
              <a:t>44.6 Seconds</a:t>
            </a:r>
          </a:p>
          <a:p>
            <a:pPr>
              <a:spcAft>
                <a:spcPts val="1800"/>
              </a:spcAft>
              <a:defRPr sz="1800">
                <a:solidFill>
                  <a:srgbClr val="7F8C8D"/>
                </a:solidFill>
              </a:defRPr>
            </a:pPr>
            <a:r>
              <a:t>Total deployment time</a:t>
            </a:r>
          </a:p>
          <a:p>
            <a:pPr>
              <a:defRPr sz="3600" b="1">
                <a:solidFill>
                  <a:srgbClr val="2ECC71"/>
                </a:solidFill>
              </a:defRPr>
            </a:pPr>
            <a:r>
              <a:t>0.89 sec/user</a:t>
            </a:r>
          </a:p>
          <a:p>
            <a:pPr>
              <a:spcAft>
                <a:spcPts val="1800"/>
              </a:spcAft>
              <a:defRPr sz="1800">
                <a:solidFill>
                  <a:srgbClr val="7F8C8D"/>
                </a:solidFill>
              </a:defRPr>
            </a:pPr>
            <a:r>
              <a:t>Average provisioning speed</a:t>
            </a:r>
          </a:p>
          <a:p>
            <a:pPr>
              <a:defRPr sz="3600" b="1">
                <a:solidFill>
                  <a:srgbClr val="2ECC71"/>
                </a:solidFill>
              </a:defRPr>
            </a:pPr>
            <a:r>
              <a:t>5 Departments</a:t>
            </a:r>
          </a:p>
          <a:p>
            <a:pPr>
              <a:spcAft>
                <a:spcPts val="1800"/>
              </a:spcAft>
              <a:defRPr sz="1800">
                <a:solidFill>
                  <a:srgbClr val="7F8C8D"/>
                </a:solidFill>
              </a:defRPr>
            </a:pPr>
            <a:r>
              <a:t>Engineering, Legal, HR, Finance, Sales</a:t>
            </a:r>
          </a:p>
          <a:p>
            <a:pPr>
              <a:defRPr sz="3600" b="1">
                <a:solidFill>
                  <a:srgbClr val="2ECC71"/>
                </a:solidFill>
              </a:defRPr>
            </a:pPr>
            <a:r>
              <a:t>100% Success</a:t>
            </a:r>
          </a:p>
          <a:p>
            <a:pPr>
              <a:spcAft>
                <a:spcPts val="1800"/>
              </a:spcAft>
              <a:defRPr sz="1800">
                <a:solidFill>
                  <a:srgbClr val="7F8C8D"/>
                </a:solidFill>
              </a:defRPr>
            </a:pPr>
            <a:r>
              <a:t>All users created and licensed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F8C8D"/>
                </a:solidFill>
              </a:defRPr>
            </a:pPr>
            <a:r>
              <a:t>📊 Data: deployment_50_workers_results.json | Run ID: kw-121d6996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Department Distribution (50 Workers)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500"/>
              </a:spcAft>
              <a:defRPr sz="2600">
                <a:solidFill>
                  <a:srgbClr val="0078D4"/>
                </a:solidFill>
              </a:defRPr>
            </a:pPr>
            <a:r>
              <a:t>Engineering: 16 workers (32%)</a:t>
            </a:r>
          </a:p>
          <a:p>
            <a:pPr>
              <a:spcAft>
                <a:spcPts val="1500"/>
              </a:spcAft>
              <a:defRPr sz="2600"/>
            </a:pPr>
            <a:r>
              <a:t>Legal: 10 workers (20%)</a:t>
            </a:r>
          </a:p>
          <a:p>
            <a:pPr>
              <a:spcAft>
                <a:spcPts val="1500"/>
              </a:spcAft>
              <a:defRPr sz="2600"/>
            </a:pPr>
            <a:r>
              <a:t>HR: 8 workers (16%)</a:t>
            </a:r>
          </a:p>
          <a:p>
            <a:pPr>
              <a:spcAft>
                <a:spcPts val="1500"/>
              </a:spcAft>
              <a:defRPr sz="2600"/>
            </a:pPr>
            <a:r>
              <a:t>Finance: 8 workers (16%)</a:t>
            </a:r>
          </a:p>
          <a:p>
            <a:pPr>
              <a:spcAft>
                <a:spcPts val="1500"/>
              </a:spcAft>
              <a:defRPr sz="2600"/>
            </a:pPr>
            <a:r>
              <a:t>Sales: 8 workers (16%)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C2833"/>
                </a:solidFill>
              </a:defRPr>
            </a:pPr>
            <a:r>
              <a:t>CLI: haymaker kw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Initialize Knowledge Worker infrastructure</a:t>
            </a:r>
          </a:p>
          <a:p/>
          <a:p>
            <a:pPr>
              <a:defRPr sz="1700"/>
            </a:pPr>
            <a:r>
              <a:t>Creates app registration, configures Graph API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7863840" cy="2286000"/>
          </a:xfrm>
          <a:prstGeom prst="rect">
            <a:avLst/>
          </a:prstGeom>
          <a:solidFill>
            <a:srgbClr val="282C34"/>
          </a:solidFill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ABB2BF"/>
                </a:solidFill>
                <a:latin typeface="Courier New"/>
              </a:defRPr>
            </a:pPr>
            <a:r>
              <a:t>$ haymaker kw init</a:t>
            </a:r>
          </a:p>
          <a:p>
            <a:pPr>
              <a:defRPr sz="1400">
                <a:solidFill>
                  <a:srgbClr val="ABB2BF"/>
                </a:solidFill>
                <a:latin typeface="Courier New"/>
              </a:defRPr>
            </a:pPr>
          </a:p>
          <a:p>
            <a:pPr>
              <a:defRPr sz="1400">
                <a:solidFill>
                  <a:srgbClr val="98C379"/>
                </a:solidFill>
                <a:latin typeface="Courier New"/>
              </a:defRPr>
            </a:pPr>
            <a:r>
              <a:t>✓ App registration created</a:t>
            </a:r>
          </a:p>
          <a:p>
            <a:pPr>
              <a:defRPr sz="1400">
                <a:solidFill>
                  <a:srgbClr val="98C379"/>
                </a:solidFill>
                <a:latin typeface="Courier New"/>
              </a:defRPr>
            </a:pPr>
            <a:r>
              <a:t>✓ Graph API permissions configured:</a:t>
            </a:r>
          </a:p>
          <a:p>
            <a:pPr>
              <a:defRPr sz="1400">
                <a:solidFill>
                  <a:srgbClr val="ABB2BF"/>
                </a:solidFill>
                <a:latin typeface="Courier New"/>
              </a:defRPr>
            </a:pPr>
            <a:r>
              <a:t>  - User.ReadWrite.All</a:t>
            </a:r>
          </a:p>
          <a:p>
            <a:pPr>
              <a:defRPr sz="1400">
                <a:solidFill>
                  <a:srgbClr val="ABB2BF"/>
                </a:solidFill>
                <a:latin typeface="Courier New"/>
              </a:defRPr>
            </a:pPr>
            <a:r>
              <a:t>  - Mail.Send</a:t>
            </a:r>
          </a:p>
          <a:p>
            <a:pPr>
              <a:defRPr sz="1400">
                <a:solidFill>
                  <a:srgbClr val="ABB2BF"/>
                </a:solidFill>
                <a:latin typeface="Courier New"/>
              </a:defRPr>
            </a:pPr>
            <a:r>
              <a:t>  - Calendars.ReadWrite</a:t>
            </a:r>
          </a:p>
          <a:p>
            <a:pPr>
              <a:defRPr sz="1400">
                <a:solidFill>
                  <a:srgbClr val="ABB2BF"/>
                </a:solidFill>
                <a:latin typeface="Courier New"/>
              </a:defRPr>
            </a:pPr>
            <a:r>
              <a:t>  - Organization.Read.All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ECC71"/>
                </a:solidFill>
              </a:defRPr>
            </a:pPr>
            <a:r>
              <a:t>✅ Real Telemetry: Email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900" b="1"/>
            </a:pPr>
            <a:r>
              <a:t>Emails successfully sent by Knowledge Workers:</a:t>
            </a:r>
          </a:p>
          <a:p>
            <a:pPr>
              <a:defRPr sz="1700"/>
            </a:pPr>
          </a:p>
          <a:p>
            <a:pPr>
              <a:defRPr sz="1400">
                <a:latin typeface="Courier New"/>
              </a:defRPr>
            </a:pPr>
            <a:r>
              <a:t>From: kw-kw-84d83-engi-000@DefenderATEVET12.onmicrosoft.com</a:t>
            </a:r>
          </a:p>
          <a:p>
            <a:pPr>
              <a:defRPr sz="1400">
                <a:latin typeface="Courier New"/>
              </a:defRPr>
            </a:pPr>
            <a:r>
              <a:t>To: kw-kw-84d83-engi-000@DefenderATEVET12.onmicrosoft.com</a:t>
            </a:r>
          </a:p>
          <a:p>
            <a:pPr>
              <a:defRPr sz="1400">
                <a:latin typeface="Courier New"/>
              </a:defRPr>
            </a:pPr>
            <a:r>
              <a:t>Subject: [KW E2E Test] 2025-11-26 18:57:15 UTC</a:t>
            </a:r>
          </a:p>
          <a:p>
            <a:pPr>
              <a:defRPr sz="1400">
                <a:latin typeface="Courier New"/>
              </a:defRPr>
            </a:pPr>
            <a:r>
              <a:t>Status: ✅ SUCCESS (HTTP/2 200 OK)</a:t>
            </a:r>
          </a:p>
          <a:p>
            <a:pPr>
              <a:defRPr sz="1700"/>
            </a:pPr>
          </a:p>
          <a:p>
            <a:pPr>
              <a:defRPr sz="1900" b="1"/>
            </a:pPr>
            <a:r>
              <a:t>This proves:</a:t>
            </a:r>
          </a:p>
          <a:p>
            <a:pPr lvl="1">
              <a:defRPr sz="1600"/>
            </a:pPr>
            <a:r>
              <a:t>• User has active mailbox (E5 license working)</a:t>
            </a:r>
          </a:p>
          <a:p>
            <a:pPr lvl="1">
              <a:defRPr sz="1600"/>
            </a:pPr>
            <a:r>
              <a:t>• Mail.Send permission configured correctly</a:t>
            </a:r>
          </a:p>
          <a:p>
            <a:pPr lvl="1">
              <a:defRPr sz="1600"/>
            </a:pPr>
            <a:r>
              <a:t>• Real Microsoft Graph API operations functional</a:t>
            </a:r>
          </a:p>
          <a:p>
            <a:pPr lvl="1">
              <a:defRPr sz="1600"/>
            </a:pPr>
            <a:r>
              <a:t>• Internal-only communication enforced</a:t>
            </a:r>
          </a:p>
          <a:p>
            <a:pPr>
              <a:defRPr sz="1700"/>
            </a:pP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💻 Telemetry Collection: telemetry/m365_telemetry.py (443 lines)</a:t>
            </a: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📄 Evidence Document: e2e_evidence.md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ECC71"/>
                </a:solidFill>
              </a:defRPr>
            </a:pPr>
            <a:r>
              <a:t>✅ Real Telemetry: Calendar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900" b="1"/>
            </a:pPr>
            <a:r>
              <a:t>Calendar events created by Knowledge Workers:</a:t>
            </a:r>
          </a:p>
          <a:p>
            <a:pPr>
              <a:defRPr sz="1700"/>
            </a:pPr>
          </a:p>
          <a:p>
            <a:pPr>
              <a:defRPr sz="1400">
                <a:latin typeface="Courier New"/>
              </a:defRPr>
            </a:pPr>
            <a:r>
              <a:t>Worker: kw-kw-07717-engi-000</a:t>
            </a:r>
          </a:p>
          <a:p>
            <a:pPr>
              <a:defRPr sz="1400">
                <a:latin typeface="Courier New"/>
              </a:defRPr>
            </a:pPr>
            <a:r>
              <a:t>Created: Calendar event (Meeting)</a:t>
            </a:r>
          </a:p>
          <a:p>
            <a:pPr>
              <a:defRPr sz="1400">
                <a:latin typeface="Courier New"/>
              </a:defRPr>
            </a:pPr>
            <a:r>
              <a:t>API Response: HTTP/2 201 Created</a:t>
            </a:r>
          </a:p>
          <a:p>
            <a:pPr>
              <a:defRPr sz="1700"/>
            </a:pPr>
          </a:p>
          <a:p>
            <a:pPr>
              <a:defRPr sz="1400">
                <a:latin typeface="Courier New"/>
              </a:defRPr>
            </a:pPr>
            <a:r>
              <a:t>Worker: kw-kw-07717-lega-000</a:t>
            </a:r>
          </a:p>
          <a:p>
            <a:pPr>
              <a:defRPr sz="1400">
                <a:latin typeface="Courier New"/>
              </a:defRPr>
            </a:pPr>
            <a:r>
              <a:t>Created: Calendar event (Meeting)</a:t>
            </a:r>
          </a:p>
          <a:p>
            <a:pPr>
              <a:defRPr sz="1400">
                <a:latin typeface="Courier New"/>
              </a:defRPr>
            </a:pPr>
            <a:r>
              <a:t>API Response: HTTP/2 201 Created</a:t>
            </a:r>
          </a:p>
          <a:p>
            <a:pPr>
              <a:defRPr sz="1700"/>
            </a:pPr>
          </a:p>
          <a:p>
            <a:pPr>
              <a:defRPr sz="1900" b="1"/>
            </a:pPr>
            <a:r>
              <a:t>Operations Verified:</a:t>
            </a:r>
          </a:p>
          <a:p>
            <a:pPr lvl="1">
              <a:defRPr sz="1600"/>
            </a:pPr>
            <a:r>
              <a:t>• Calendars.ReadWrite permission functional</a:t>
            </a:r>
          </a:p>
          <a:p>
            <a:pPr lvl="1">
              <a:defRPr sz="1600"/>
            </a:pPr>
            <a:r>
              <a:t>• Event creation via Graph API successful</a:t>
            </a:r>
          </a:p>
          <a:p>
            <a:pPr lvl="1">
              <a:defRPr sz="1600"/>
            </a:pPr>
            <a:r>
              <a:t>• Multi-worker deployment operational</a:t>
            </a:r>
          </a:p>
          <a:p>
            <a:pPr lvl="1">
              <a:defRPr sz="1600"/>
            </a:pPr>
            <a:r>
              <a:t>• Real M365 calendar integration working</a:t>
            </a:r>
          </a:p>
          <a:p>
            <a:pPr>
              <a:defRPr sz="1700"/>
            </a:pP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💻 Calendar Operations: operations/calendar.py</a:t>
            </a:r>
          </a:p>
          <a:p>
            <a:pPr>
              <a:defRPr sz="1400">
                <a:solidFill>
                  <a:srgbClr val="0078D4"/>
                </a:solidFill>
              </a:defRPr>
            </a:pPr>
            <a:r>
              <a:t>📊 Deployment Log: See deployment evidence in e2e_evidence.md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C2833"/>
                </a:solidFill>
              </a:defRPr>
            </a:pPr>
            <a:r>
              <a:t>Summary: Production-Ready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ECC71"/>
                </a:solidFill>
              </a:defRPr>
            </a:pPr>
            <a:r>
              <a:t>✅ 50-Worker Scale Proven (44.6 seconds)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Windows 365 Cloud PC Architecture Complete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M365 Telemetry Collection Implemented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Always-Live Architecture (No Simulation)</a:t>
            </a:r>
          </a:p>
          <a:p>
            <a:pPr>
              <a:defRPr sz="2200" b="1">
                <a:solidFill>
                  <a:srgbClr val="2ECC71"/>
                </a:solidFill>
              </a:defRPr>
            </a:pPr>
            <a:r>
              <a:t>✅ Dynamic E5 License Assignment</a:t>
            </a:r>
          </a:p>
          <a:p>
            <a:pPr>
              <a:defRPr sz="1800"/>
            </a:pPr>
          </a:p>
          <a:p>
            <a:pPr>
              <a:defRPr sz="2000" b="1">
                <a:solidFill>
                  <a:srgbClr val="5EA8A7"/>
                </a:solidFill>
              </a:defRPr>
            </a:pPr>
            <a:r>
              <a:t>Framework Ready for Production:</a:t>
            </a:r>
          </a:p>
          <a:p>
            <a:pPr lvl="1">
              <a:defRPr sz="1800"/>
            </a:pPr>
            <a:r>
              <a:t>• 50-300 workers with hybrid W365/Container endpoints</a:t>
            </a:r>
          </a:p>
          <a:p>
            <a:pPr lvl="1">
              <a:defRPr sz="1800"/>
            </a:pPr>
            <a:r>
              <a:t>• Real M365 operations generating cybersecurity telemetry</a:t>
            </a:r>
          </a:p>
          <a:p>
            <a:pPr lvl="1">
              <a:defRPr sz="1800"/>
            </a:pPr>
            <a:r>
              <a:t>• Complete documentation and test coverage</a:t>
            </a:r>
          </a:p>
          <a:p>
            <a:pPr>
              <a:defRPr sz="1800"/>
            </a:pPr>
          </a:p>
          <a:p>
            <a:pPr>
              <a:defRPr sz="1400">
                <a:solidFill>
                  <a:srgbClr val="0078D4"/>
                </a:solidFill>
              </a:defRPr>
            </a:pPr>
            <a:r>
              <a:rPr>
                <a:hlinkClick r:id="rId2"/>
              </a:rPr>
              <a:t>📄 Full Docs: https://github.com/rysweet/AzureHayMaker/tree/main/docs/knowledge-worker-framework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