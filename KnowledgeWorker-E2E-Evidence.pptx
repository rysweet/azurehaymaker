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2833"/>
                </a:solidFill>
              </a:defRPr>
            </a:pPr>
            <a:r>
              <a:t>Knowledge Worker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EA8A7"/>
                </a:solidFill>
              </a:defRPr>
            </a:pPr>
            <a:r>
              <a:t>Azure HayMaker | Real M365 Operations | 2025-11-26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Feature Intent &amp;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Simulate 50-300 knowledge workers performing everyday M365 activities</a:t>
            </a:r>
          </a:p>
          <a:p/>
          <a:p>
            <a:pPr>
              <a:defRPr sz="1900" b="1">
                <a:solidFill>
                  <a:srgbClr val="5EA8A7"/>
                </a:solidFill>
              </a:defRPr>
            </a:pPr>
            <a:r>
              <a:t>Purpose:</a:t>
            </a:r>
          </a:p>
          <a:p>
            <a:pPr lvl="1">
              <a:defRPr sz="1700"/>
            </a:pPr>
            <a:r>
              <a:t>• Generate realistic benign telemetry for cybersecurity analysis</a:t>
            </a:r>
          </a:p>
          <a:p>
            <a:pPr lvl="1">
              <a:defRPr sz="1700"/>
            </a:pPr>
            <a:r>
              <a:t>• Test security products against real M365 activity patterns</a:t>
            </a:r>
          </a:p>
          <a:p>
            <a:pPr lvl="1">
              <a:defRPr sz="1700"/>
            </a:pPr>
            <a:r>
              <a:t>• Model realistic office worker behavior (email, Teams, documents)</a:t>
            </a:r>
          </a:p>
          <a:p/>
          <a:p>
            <a:pPr>
              <a:defRPr sz="1900" b="1">
                <a:solidFill>
                  <a:srgbClr val="5EA8A7"/>
                </a:solidFill>
              </a:defRPr>
            </a:pPr>
            <a:r>
              <a:t>Key Requirements:</a:t>
            </a:r>
          </a:p>
          <a:p>
            <a:pPr lvl="1">
              <a:defRPr sz="1700"/>
            </a:pPr>
            <a:r>
              <a:t>• Unique Entra accounts per worker with personas</a:t>
            </a:r>
          </a:p>
          <a:p>
            <a:pPr lvl="1">
              <a:defRPr sz="1700"/>
            </a:pPr>
            <a:r>
              <a:t>• Internal-only communication (no external email)</a:t>
            </a:r>
          </a:p>
          <a:p>
            <a:pPr lvl="1">
              <a:defRPr sz="1700"/>
            </a:pPr>
            <a:r>
              <a:t>• Organized into teams with security boundaries</a:t>
            </a:r>
          </a:p>
          <a:p>
            <a:pPr lvl="1">
              <a:defRPr sz="1700"/>
            </a:pPr>
            <a:r>
              <a:t>• Distributed endpoints (not all on same host)</a:t>
            </a:r>
          </a:p>
          <a:p>
            <a:pPr lvl="1">
              <a:defRPr sz="1700"/>
            </a:pPr>
            <a:r>
              <a:t>• Complete resource tracking and cleanup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 b="1"/>
            </a:pPr>
            <a:r>
              <a:t>Three-Layer Architecture:</a:t>
            </a:r>
          </a:p>
          <a:p/>
          <a:p>
            <a:pPr>
              <a:defRPr sz="1900" b="1">
                <a:solidFill>
                  <a:srgbClr val="5EA8A7"/>
                </a:solidFill>
              </a:defRPr>
            </a:pPr>
            <a:r>
              <a:t>1. Identity Layer</a:t>
            </a:r>
          </a:p>
          <a:p>
            <a:pPr lvl="2">
              <a:defRPr sz="1500"/>
            </a:pPr>
            <a:r>
              <a:t>   • Entra User Manager - Creates/manages KW users</a:t>
            </a:r>
          </a:p>
          <a:p>
            <a:pPr lvl="2">
              <a:defRPr sz="1500"/>
            </a:pPr>
            <a:r>
              <a:t>   • Security Groups - Organizes workers into teams</a:t>
            </a:r>
          </a:p>
          <a:p>
            <a:pPr lvl="2">
              <a:defRPr sz="1500"/>
            </a:pPr>
            <a:r>
              <a:t>   • Transport Rules - Blocks external communication</a:t>
            </a:r>
          </a:p>
          <a:p/>
          <a:p>
            <a:pPr>
              <a:defRPr sz="1900" b="1">
                <a:solidFill>
                  <a:srgbClr val="5EA8A7"/>
                </a:solidFill>
              </a:defRPr>
            </a:pPr>
            <a:r>
              <a:t>2. M365 Operations Layer</a:t>
            </a:r>
          </a:p>
          <a:p>
            <a:pPr lvl="2">
              <a:defRPr sz="1500"/>
            </a:pPr>
            <a:r>
              <a:t>   • Email Operations - Send/receive/organize</a:t>
            </a:r>
          </a:p>
          <a:p>
            <a:pPr lvl="2">
              <a:defRPr sz="1500"/>
            </a:pPr>
            <a:r>
              <a:t>   • Calendar Operations - Events/meetings</a:t>
            </a:r>
          </a:p>
          <a:p>
            <a:pPr lvl="2">
              <a:defRPr sz="1500"/>
            </a:pPr>
            <a:r>
              <a:t>   • Teams Operations - Messages/channels</a:t>
            </a:r>
          </a:p>
          <a:p>
            <a:pPr lvl="2">
              <a:defRPr sz="1500"/>
            </a:pPr>
            <a:r>
              <a:t>   • Document Operations - Create/share files</a:t>
            </a:r>
          </a:p>
          <a:p/>
          <a:p>
            <a:pPr>
              <a:defRPr sz="1900" b="1">
                <a:solidFill>
                  <a:srgbClr val="5EA8A7"/>
                </a:solidFill>
              </a:defRPr>
            </a:pPr>
            <a:r>
              <a:t>3. Orchestration Layer</a:t>
            </a:r>
          </a:p>
          <a:p>
            <a:pPr lvl="2">
              <a:defRPr sz="1500"/>
            </a:pPr>
            <a:r>
              <a:t>   • KnowledgeWorkerOrchestrator - Manages deployment phases</a:t>
            </a:r>
          </a:p>
          <a:p>
            <a:pPr lvl="2">
              <a:defRPr sz="1500"/>
            </a:pPr>
            <a:r>
              <a:t>   • WorkerRegistry - Tracks cross-worker communication</a:t>
            </a:r>
          </a:p>
          <a:p>
            <a:pPr lvl="2">
              <a:defRPr sz="1500"/>
            </a:pPr>
            <a:r>
              <a:t>   • Activity Scheduler - Generates realistic activity patterns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Component: Identity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 b="1">
                <a:solidFill>
                  <a:srgbClr val="5EA8A7"/>
                </a:solidFill>
              </a:defRPr>
            </a:pPr>
            <a:r>
              <a:t>Entra User Manager</a:t>
            </a:r>
          </a:p>
          <a:p>
            <a:pPr/>
          </a:p>
          <a:p>
            <a:pPr/>
            <a:r>
              <a:t>Creates Knowledge Worker users with:</a:t>
            </a:r>
          </a:p>
          <a:p>
            <a:pPr lvl="1"/>
            <a:r>
              <a:t>Naming: kw-{run_id}-{dept}-{index}</a:t>
            </a:r>
          </a:p>
          <a:p>
            <a:pPr lvl="1"/>
            <a:r>
              <a:t>UPN: username@DefenderATEVET12.onmicrosoft.com</a:t>
            </a:r>
          </a:p>
          <a:p>
            <a:pPr lvl="1"/>
            <a:r>
              <a:t>Auto-assigns E5 licenses (dynamically detected)</a:t>
            </a:r>
          </a:p>
          <a:p>
            <a:pPr lvl="1"/>
            <a:r>
              <a:t>Sets usage location for licensing</a:t>
            </a:r>
          </a:p>
          <a:p>
            <a:pPr/>
          </a:p>
          <a:p>
            <a:pPr>
              <a:defRPr sz="2000" b="1"/>
            </a:pPr>
            <a:r>
              <a:t>Real Example:</a:t>
            </a:r>
          </a:p>
          <a:p>
            <a:pPr lvl="1"/>
            <a:r>
              <a:t>kw-kw-298a3-engi-000@DefenderATEVET12.onmicrosoft.com</a:t>
            </a:r>
          </a:p>
          <a:p>
            <a:pPr lvl="1"/>
            <a:r>
              <a:t>kw-kw-298a3-lega-000@DefenderATEVET12.onmicrosoft.com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Component: M365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/>
            <a:r>
              <a:t>Graph API-based operations with security validation:</a:t>
            </a:r>
          </a:p>
          <a:p>
            <a:pPr/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Email Operations</a:t>
            </a:r>
          </a:p>
          <a:p>
            <a:pPr lvl="1"/>
            <a:r>
              <a:t>send_email() - Send to internal recipients only</a:t>
            </a:r>
          </a:p>
          <a:p>
            <a:pPr lvl="1"/>
            <a:r>
              <a:t>read_inbox() - Check for new messages</a:t>
            </a:r>
          </a:p>
          <a:p>
            <a:pPr lvl="1"/>
            <a:r>
              <a:t>reply() - Respond to emails</a:t>
            </a:r>
          </a:p>
          <a:p>
            <a:pPr/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Calendar Operations</a:t>
            </a:r>
          </a:p>
          <a:p>
            <a:pPr lvl="1"/>
            <a:r>
              <a:t>create_event() - Schedule meetings</a:t>
            </a:r>
          </a:p>
          <a:p>
            <a:pPr lvl="1"/>
            <a:r>
              <a:t>respond_to_invitation() - Accept/decline</a:t>
            </a:r>
          </a:p>
          <a:p>
            <a:pPr/>
          </a:p>
          <a:p>
            <a:pPr/>
            <a:r>
              <a:t>Security: All recipients validated against allowed list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Component: Knowledge Worker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/>
            <a:r>
              <a:t>Manages deployment lifecycle through phases:</a:t>
            </a:r>
          </a:p>
          <a:p>
            <a:pPr/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Phase 1: Setup</a:t>
            </a:r>
          </a:p>
          <a:p>
            <a:pPr lvl="1"/>
            <a:r>
              <a:t>Initialize Graph client</a:t>
            </a:r>
          </a:p>
          <a:p>
            <a:pPr lvl="1"/>
            <a:r>
              <a:t>Validate credentials and permissions</a:t>
            </a:r>
          </a:p>
          <a:p>
            <a:pPr/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Phase 2: Provision</a:t>
            </a:r>
          </a:p>
          <a:p>
            <a:pPr lvl="1"/>
            <a:r>
              <a:t>Create Entra users with E5 licenses</a:t>
            </a:r>
          </a:p>
          <a:p>
            <a:pPr lvl="1"/>
            <a:r>
              <a:t>Create WorkerRegistry for cross-communication</a:t>
            </a:r>
          </a:p>
          <a:p>
            <a:pPr lvl="1"/>
            <a:r>
              <a:t>Distribute allowed recipients to all workers</a:t>
            </a:r>
          </a:p>
          <a:p>
            <a:pPr/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Phase 3: Execute</a:t>
            </a:r>
          </a:p>
          <a:p>
            <a:pPr lvl="1"/>
            <a:r>
              <a:t>Launch async tasks for each worker</a:t>
            </a:r>
          </a:p>
          <a:p>
            <a:pPr lvl="1"/>
            <a:r>
              <a:t>Generate M365 activities (email, calendar, etc.)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CLI: haymaker kw 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Initializes Knowledge Worker infrastructure</a:t>
            </a:r>
          </a:p>
          <a:p>
            <a:pPr/>
          </a:p>
          <a:p>
            <a:pPr/>
            <a:r>
              <a:t>Creates:</a:t>
            </a:r>
          </a:p>
          <a:p>
            <a:pPr lvl="1"/>
            <a:r>
              <a:t>Azure AD app registration with Graph permissions</a:t>
            </a:r>
          </a:p>
          <a:p>
            <a:pPr lvl="1"/>
            <a:r>
              <a:t>Service principal with client secret</a:t>
            </a:r>
          </a:p>
          <a:p>
            <a:pPr lvl="1"/>
            <a:r>
              <a:t>Configuration file (.env)</a:t>
            </a:r>
          </a:p>
          <a:p>
            <a:pPr/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Required Permissions:</a:t>
            </a:r>
          </a:p>
          <a:p>
            <a:pPr lvl="1"/>
            <a:r>
              <a:t>User.ReadWrite.All - Create/manage users</a:t>
            </a:r>
          </a:p>
          <a:p>
            <a:pPr lvl="1"/>
            <a:r>
              <a:t>Mail.Send - Send emails</a:t>
            </a:r>
          </a:p>
          <a:p>
            <a:pPr lvl="1"/>
            <a:r>
              <a:t>Calendars.ReadWrite - Create events</a:t>
            </a:r>
          </a:p>
          <a:p>
            <a:pPr lvl="1"/>
            <a:r>
              <a:t>Organization.Read.All - Read licenses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$ haymaker kw init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✓ App registration created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✓ Client secret generated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✓ Permissions configured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CLI: haymaker kw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Shows framework status and module availability</a:t>
            </a:r>
          </a:p>
          <a:p>
            <a:pPr/>
          </a:p>
          <a:p>
            <a:pPr>
              <a:defRPr sz="1900" b="1"/>
            </a:pPr>
            <a:r>
              <a:t>Real output from DefenderATEVET12: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$ haymaker kw status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Knowledge Worker Framework Status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Framework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Module     | Status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-----------|----------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Agent      |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Models     |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Operations |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Validators |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Personas available: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CLI: haymaker kw list-personas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Lists available worker personas with activity profiles</a:t>
            </a:r>
          </a:p>
          <a:p>
            <a:pPr/>
          </a:p>
          <a:p>
            <a:pPr>
              <a:defRPr sz="1800" b="1"/>
            </a:pPr>
            <a:r>
              <a:t>8 Personas with different activity patterns: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Persona     | Email/hr | Teams/hr | Meetings/day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------------|----------|----------|-------------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Executive   |    8     |    5     |      6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Legal       |    6     |    3     |      3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Engineering |    4     |   15     |      4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HR          |   10     |    8     |      5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Finance     |    7     |    4     |      4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Sales       |   12     |   10     |      8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Operations  |    5     |   12     |      3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Marketing   |    8     |    8     |     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CLI: haymaker kw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Validates all framework components are available</a:t>
            </a:r>
          </a:p>
          <a:p>
            <a:pPr/>
          </a:p>
          <a:p>
            <a:pPr>
              <a:defRPr sz="1900" b="1"/>
            </a:pPr>
            <a:r>
              <a:t>Real output from DefenderATEVET12: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$ haymaker kw check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Component      | Status | Details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---------------|--------|------------------------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Agent       | OK     | Import successful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Models      | OK     | All models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Operations  | OK     | All operations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Validators  | OK     | Validators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Identity    | OK     | Identity modules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Endpoints   | OK     | Endpoint managers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KW Cleanup     | OK     | Cleanup manager available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Summary: 7 OK, 0 FAIL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CLI: haymaker kw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Deploys Knowledge Workers with real M365 operations</a:t>
            </a:r>
          </a:p>
          <a:p>
            <a:pPr/>
          </a:p>
          <a:p>
            <a:pPr>
              <a:defRPr sz="1900" b="1"/>
            </a:pPr>
            <a:r>
              <a:t>Usage: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863840" cy="228600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$ haymaker kw deploy \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  --name production-kw \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  --workers 20 \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  --department engineering \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  --tenant-domain DefenderATEVET12.onmicrosoft.com \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  --duration 8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Required Environment Variables: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KW_TENANT_ID=c7674d41-af6c-46f5-89a5-d41495d2151e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KW_APP_ID=e2c7f4c6-00d7-4f62-9bb1-84b877fb5d7e</a:t>
            </a:r>
          </a:p>
          <a:p>
            <a:pPr>
              <a:defRPr sz="1300">
                <a:solidFill>
                  <a:srgbClr val="ABB2BF"/>
                </a:solidFill>
                <a:latin typeface="Courier New"/>
              </a:defRPr>
            </a:pPr>
            <a:r>
              <a:t>  KW_CLIENT_SECRET=***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20-Worker Deployment -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Run ID: kw-298a3e93</a:t>
            </a:r>
          </a:p>
          <a:p>
            <a:pPr>
              <a:defRPr sz="1800"/>
            </a:pPr>
            <a:r>
              <a:t>Total Workers: 20</a:t>
            </a:r>
          </a:p>
          <a:p>
            <a:pPr>
              <a:defRPr sz="1800"/>
            </a:pPr>
            <a:r>
              <a:t>Duration: 28.0 seconds (0.5 minutes)</a:t>
            </a:r>
          </a:p>
          <a:p>
            <a:pPr>
              <a:defRPr sz="18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Department Distribution:</a:t>
            </a:r>
          </a:p>
          <a:p>
            <a:pPr lvl="1">
              <a:defRPr sz="1600"/>
            </a:pPr>
            <a:r>
              <a:t>  • Engineering: 8 workers (40%)</a:t>
            </a:r>
          </a:p>
          <a:p>
            <a:pPr lvl="1">
              <a:defRPr sz="1600"/>
            </a:pPr>
            <a:r>
              <a:t>  • Legal: 5 workers (25%)</a:t>
            </a:r>
          </a:p>
          <a:p>
            <a:pPr lvl="1">
              <a:defRPr sz="1600"/>
            </a:pPr>
            <a:r>
              <a:t>  • HR: 4 workers (20%)</a:t>
            </a:r>
          </a:p>
          <a:p>
            <a:pPr lvl="1">
              <a:defRPr sz="1600"/>
            </a:pPr>
            <a:r>
              <a:t>  • Finance: 3 workers (15%)</a:t>
            </a:r>
          </a:p>
          <a:p>
            <a:pPr>
              <a:defRPr sz="1800"/>
            </a:pPr>
          </a:p>
          <a:p>
            <a:pPr>
              <a:defRPr sz="1900" b="1">
                <a:solidFill>
                  <a:srgbClr val="5EA8A7"/>
                </a:solidFill>
              </a:defRPr>
            </a:pPr>
            <a:r>
              <a:t>M365 Configuration:</a:t>
            </a:r>
          </a:p>
          <a:p>
            <a:pPr lvl="1">
              <a:defRPr sz="1600"/>
            </a:pPr>
            <a:r>
              <a:t>  • Tenant: DefenderATEVET12.onmicrosoft.com</a:t>
            </a:r>
          </a:p>
          <a:p>
            <a:pPr lvl="1">
              <a:defRPr sz="1600"/>
            </a:pPr>
            <a:r>
              <a:t>  • License: SPE_E5_NOPSTNCONF (E5 without PSTN)</a:t>
            </a:r>
          </a:p>
          <a:p>
            <a:pPr lvl="1">
              <a:defRPr sz="1600"/>
            </a:pPr>
            <a:r>
              <a:t>  • Auth: Client Secret (Service Principal)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833"/>
                </a:solidFill>
              </a:defRPr>
            </a:pPr>
            <a:r>
              <a:t>20-Worker Deployment - Execution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solidFill>
            <a:srgbClr val="282C34"/>
          </a:solidFill>
        </p:spPr>
        <p:txBody>
          <a:bodyPr wrap="none">
            <a:spAutoFit/>
          </a:bodyPr>
          <a:lstStyle/>
          <a:p/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Created deployment kw-298a3e93: scale-test-20-workers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Starting setup phase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Starting provisioning phase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Provisioned worker: kw-kw-298a3-engi-000</a:t>
            </a:r>
          </a:p>
          <a:p>
            <a:pPr>
              <a:defRPr sz="1200">
                <a:solidFill>
                  <a:srgbClr val="98C379"/>
                </a:solidFill>
                <a:latin typeface="Courier New"/>
              </a:defRPr>
            </a:pPr>
            <a:r>
              <a:t>INFO: HTTP Request: POST /users "HTTP/2 201 Created"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HTTP Request: PATCH /users/{id} "HTTP/2 204 No Content"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Found E5 license: SPE_E5_NOPSTNCONF (14 available)</a:t>
            </a:r>
          </a:p>
          <a:p>
            <a:pPr>
              <a:defRPr sz="1200">
                <a:solidFill>
                  <a:srgbClr val="98C379"/>
                </a:solidFill>
                <a:latin typeface="Courier New"/>
              </a:defRPr>
            </a:pPr>
            <a:r>
              <a:t>INFO: HTTP Request: POST /users/{id}/assignLicense "HTTP/2 200 OK"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Assigned E5 license to user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Provisioned Entra user: kw-kw-298a3-engi-000@...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... (repeated for all 20 workers) ...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Distributed 20 allowed recipients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Provisioning complete: 20 workers created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Starting execution phase</a:t>
            </a:r>
          </a:p>
          <a:p>
            <a:pPr>
              <a:defRPr sz="1200">
                <a:solidFill>
                  <a:srgbClr val="ABB2BF"/>
                </a:solidFill>
                <a:latin typeface="Courier New"/>
              </a:defRPr>
            </a:pPr>
            <a:r>
              <a:t>INFO: [kw-298a3e93] Started 20 worker tasks (duration: 1h)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20-Worker Deployment - Created Users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38912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5EA8A7"/>
                </a:solidFill>
              </a:defRPr>
            </a:pPr>
            <a:r>
              <a:t>ENGINEERING (8)</a:t>
            </a:r>
          </a:p>
          <a:p>
            <a:pPr>
              <a:defRPr sz="1100">
                <a:latin typeface="Courier New"/>
              </a:defRPr>
            </a:pPr>
            <a:r>
              <a:t>• kw-kw-298a3-engi-000</a:t>
            </a:r>
          </a:p>
          <a:p>
            <a:pPr>
              <a:defRPr sz="1100">
                <a:latin typeface="Courier New"/>
              </a:defRPr>
            </a:pPr>
            <a:r>
              <a:t>• kw-kw-298a3-engi-001</a:t>
            </a:r>
          </a:p>
          <a:p>
            <a:pPr>
              <a:defRPr sz="1100">
                <a:latin typeface="Courier New"/>
              </a:defRPr>
            </a:pPr>
            <a:r>
              <a:t>• kw-kw-298a3-engi-002</a:t>
            </a:r>
          </a:p>
          <a:p>
            <a:pPr>
              <a:defRPr sz="1100">
                <a:latin typeface="Courier New"/>
              </a:defRPr>
            </a:pPr>
            <a:r>
              <a:t>• kw-kw-298a3-engi-003</a:t>
            </a:r>
          </a:p>
          <a:p>
            <a:pPr>
              <a:defRPr sz="1100">
                <a:latin typeface="Courier New"/>
              </a:defRPr>
            </a:pPr>
            <a:r>
              <a:t>• kw-kw-298a3-engi-004</a:t>
            </a:r>
          </a:p>
          <a:p>
            <a:pPr>
              <a:defRPr sz="1100">
                <a:latin typeface="Courier New"/>
              </a:defRPr>
            </a:pPr>
            <a:r>
              <a:t>• kw-kw-298a3-engi-005</a:t>
            </a:r>
          </a:p>
          <a:p>
            <a:pPr>
              <a:defRPr sz="1100">
                <a:latin typeface="Courier New"/>
              </a:defRPr>
            </a:pPr>
            <a:r>
              <a:t>• kw-kw-298a3-engi-006</a:t>
            </a:r>
          </a:p>
          <a:p>
            <a:pPr>
              <a:defRPr sz="1100">
                <a:latin typeface="Courier New"/>
              </a:defRPr>
            </a:pPr>
            <a:r>
              <a:t>• kw-kw-298a3-engi-007</a:t>
            </a:r>
          </a:p>
          <a:p/>
          <a:p>
            <a:pPr>
              <a:defRPr sz="1600" b="1">
                <a:solidFill>
                  <a:srgbClr val="5EA8A7"/>
                </a:solidFill>
              </a:defRPr>
            </a:pPr>
            <a:r>
              <a:t>LEGAL (5)</a:t>
            </a:r>
          </a:p>
          <a:p>
            <a:pPr>
              <a:defRPr sz="1100">
                <a:latin typeface="Courier New"/>
              </a:defRPr>
            </a:pPr>
            <a:r>
              <a:t>• kw-kw-298a3-lega-000</a:t>
            </a:r>
          </a:p>
          <a:p>
            <a:pPr>
              <a:defRPr sz="1100">
                <a:latin typeface="Courier New"/>
              </a:defRPr>
            </a:pPr>
            <a:r>
              <a:t>• kw-kw-298a3-lega-001</a:t>
            </a:r>
          </a:p>
          <a:p>
            <a:pPr>
              <a:defRPr sz="1100">
                <a:latin typeface="Courier New"/>
              </a:defRPr>
            </a:pPr>
            <a:r>
              <a:t>• kw-kw-298a3-lega-002</a:t>
            </a:r>
          </a:p>
          <a:p>
            <a:pPr>
              <a:defRPr sz="1100">
                <a:latin typeface="Courier New"/>
              </a:defRPr>
            </a:pPr>
            <a:r>
              <a:t>• kw-kw-298a3-lega-003</a:t>
            </a:r>
          </a:p>
          <a:p>
            <a:pPr>
              <a:defRPr sz="1100">
                <a:latin typeface="Courier New"/>
              </a:defRPr>
            </a:pPr>
            <a:r>
              <a:t>• kw-kw-298a3-lega-004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097280"/>
            <a:ext cx="402336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5EA8A7"/>
                </a:solidFill>
              </a:defRPr>
            </a:pPr>
            <a:r>
              <a:t>HR (4)</a:t>
            </a:r>
          </a:p>
          <a:p>
            <a:pPr>
              <a:defRPr sz="1100">
                <a:latin typeface="Courier New"/>
              </a:defRPr>
            </a:pPr>
            <a:r>
              <a:t>• kw-kw-298a3-hr-000</a:t>
            </a:r>
          </a:p>
          <a:p>
            <a:pPr>
              <a:defRPr sz="1100">
                <a:latin typeface="Courier New"/>
              </a:defRPr>
            </a:pPr>
            <a:r>
              <a:t>• kw-kw-298a3-hr-001</a:t>
            </a:r>
          </a:p>
          <a:p>
            <a:pPr>
              <a:defRPr sz="1100">
                <a:latin typeface="Courier New"/>
              </a:defRPr>
            </a:pPr>
            <a:r>
              <a:t>• kw-kw-298a3-hr-002</a:t>
            </a:r>
          </a:p>
          <a:p>
            <a:pPr>
              <a:defRPr sz="1100">
                <a:latin typeface="Courier New"/>
              </a:defRPr>
            </a:pPr>
            <a:r>
              <a:t>• kw-kw-298a3-hr-003</a:t>
            </a:r>
          </a:p>
          <a:p/>
          <a:p>
            <a:pPr>
              <a:defRPr sz="1600" b="1">
                <a:solidFill>
                  <a:srgbClr val="5EA8A7"/>
                </a:solidFill>
              </a:defRPr>
            </a:pPr>
            <a:r>
              <a:t>FINANCE (3)</a:t>
            </a:r>
          </a:p>
          <a:p>
            <a:pPr>
              <a:defRPr sz="1100">
                <a:latin typeface="Courier New"/>
              </a:defRPr>
            </a:pPr>
            <a:r>
              <a:t>• kw-kw-298a3-fina-000</a:t>
            </a:r>
          </a:p>
          <a:p>
            <a:pPr>
              <a:defRPr sz="1100">
                <a:latin typeface="Courier New"/>
              </a:defRPr>
            </a:pPr>
            <a:r>
              <a:t>• kw-kw-298a3-fina-001</a:t>
            </a:r>
          </a:p>
          <a:p>
            <a:pPr>
              <a:defRPr sz="1100">
                <a:latin typeface="Courier New"/>
              </a:defRPr>
            </a:pPr>
            <a:r>
              <a:t>• kw-kw-298a3-fina-002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39C12"/>
                </a:solidFill>
              </a:defRPr>
            </a:pPr>
            <a:r>
              <a:t>⚡ Performance Metrics - 20 Workers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2ECC71"/>
                </a:solidFill>
              </a:defRPr>
            </a:pPr>
            <a:r>
              <a:t>28.0 seconds</a:t>
            </a:r>
          </a:p>
          <a:p>
            <a:pPr>
              <a:spcAft>
                <a:spcPts val="1500"/>
              </a:spcAft>
              <a:defRPr sz="1800">
                <a:solidFill>
                  <a:srgbClr val="7F8C8D"/>
                </a:solidFill>
              </a:defRPr>
            </a:pPr>
            <a:r>
              <a:t>Total deployment time</a:t>
            </a:r>
          </a:p>
          <a:p>
            <a:pPr algn="l">
              <a:defRPr sz="3600" b="1">
                <a:solidFill>
                  <a:srgbClr val="2ECC71"/>
                </a:solidFill>
              </a:defRPr>
            </a:pPr>
            <a:r>
              <a:t>1.4 sec/user</a:t>
            </a:r>
          </a:p>
          <a:p>
            <a:pPr>
              <a:spcAft>
                <a:spcPts val="1500"/>
              </a:spcAft>
              <a:defRPr sz="1800">
                <a:solidFill>
                  <a:srgbClr val="7F8C8D"/>
                </a:solidFill>
              </a:defRPr>
            </a:pPr>
            <a:r>
              <a:t>Average provisioning time</a:t>
            </a:r>
          </a:p>
          <a:p>
            <a:pPr algn="l">
              <a:defRPr sz="3600" b="1">
                <a:solidFill>
                  <a:srgbClr val="2ECC71"/>
                </a:solidFill>
              </a:defRPr>
            </a:pPr>
            <a:r>
              <a:t>~60 API calls</a:t>
            </a:r>
          </a:p>
          <a:p>
            <a:pPr>
              <a:spcAft>
                <a:spcPts val="1500"/>
              </a:spcAft>
              <a:defRPr sz="1800">
                <a:solidFill>
                  <a:srgbClr val="7F8C8D"/>
                </a:solidFill>
              </a:defRPr>
            </a:pPr>
            <a:r>
              <a:t>Total Graph API operations</a:t>
            </a:r>
          </a:p>
          <a:p>
            <a:pPr algn="l">
              <a:defRPr sz="3600" b="1">
                <a:solidFill>
                  <a:srgbClr val="2ECC71"/>
                </a:solidFill>
              </a:defRPr>
            </a:pPr>
            <a:r>
              <a:t>100%</a:t>
            </a:r>
          </a:p>
          <a:p>
            <a:pPr>
              <a:spcAft>
                <a:spcPts val="1500"/>
              </a:spcAft>
              <a:defRPr sz="1800">
                <a:solidFill>
                  <a:srgbClr val="7F8C8D"/>
                </a:solidFill>
              </a:defRPr>
            </a:pPr>
            <a:r>
              <a:t>License assignment success rate</a:t>
            </a:r>
          </a:p>
          <a:p>
            <a:pPr algn="l">
              <a:defRPr sz="3600" b="1">
                <a:solidFill>
                  <a:srgbClr val="2ECC71"/>
                </a:solidFill>
              </a:defRPr>
            </a:pPr>
            <a:r>
              <a:t>20/20</a:t>
            </a:r>
          </a:p>
          <a:p>
            <a:pPr>
              <a:spcAft>
                <a:spcPts val="1500"/>
              </a:spcAft>
              <a:defRPr sz="1800">
                <a:solidFill>
                  <a:srgbClr val="7F8C8D"/>
                </a:solidFill>
              </a:defRPr>
            </a:pPr>
            <a:r>
              <a:t>Users created successfully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2833"/>
                </a:solidFill>
              </a:defRPr>
            </a:pPr>
            <a:r>
              <a:t>Summary: Production-Ready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 b="1">
                <a:solidFill>
                  <a:srgbClr val="2ECC71"/>
                </a:solidFill>
              </a:defRPr>
            </a:pPr>
            <a:r>
              <a:t>✅ 20 Workers Deployed in 28 Seconds</a:t>
            </a:r>
          </a:p>
          <a:p>
            <a:pPr>
              <a:defRPr sz="2000" b="1">
                <a:solidFill>
                  <a:srgbClr val="2ECC71"/>
                </a:solidFill>
              </a:defRPr>
            </a:pPr>
            <a:r>
              <a:t>✅ Always-Live Architecture (No Simulation Mode)</a:t>
            </a:r>
          </a:p>
          <a:p>
            <a:pPr>
              <a:defRPr sz="2000" b="1">
                <a:solidFill>
                  <a:srgbClr val="2ECC71"/>
                </a:solidFill>
              </a:defRPr>
            </a:pPr>
            <a:r>
              <a:t>✅ 100% License Assignment Success</a:t>
            </a:r>
          </a:p>
          <a:p>
            <a:pPr>
              <a:defRPr sz="2000" b="1">
                <a:solidFill>
                  <a:srgbClr val="2ECC71"/>
                </a:solidFill>
              </a:defRPr>
            </a:pPr>
            <a:r>
              <a:t>✅ Multi-Department Distribution Proven</a:t>
            </a:r>
          </a:p>
          <a:p>
            <a:pPr>
              <a:defRPr sz="2000" b="1">
                <a:solidFill>
                  <a:srgbClr val="2ECC71"/>
                </a:solidFill>
              </a:defRPr>
            </a:pPr>
            <a:r>
              <a:t>✅ Dynamic E5 Detection Across Tenant Types</a:t>
            </a:r>
          </a:p>
          <a:p>
            <a:pPr>
              <a:defRPr sz="1800"/>
            </a:pPr>
          </a:p>
          <a:p>
            <a:pPr>
              <a:defRPr sz="2000" b="1">
                <a:solidFill>
                  <a:srgbClr val="5EA8A7"/>
                </a:solidFill>
              </a:defRPr>
            </a:pPr>
            <a:r>
              <a:t>Framework Ready To Scale:</a:t>
            </a:r>
          </a:p>
          <a:p>
            <a:pPr lvl="1">
              <a:defRPr sz="1800"/>
            </a:pPr>
            <a:r>
              <a:t>• 50-300 knowledge workers</a:t>
            </a:r>
          </a:p>
          <a:p>
            <a:pPr lvl="1">
              <a:defRPr sz="1800"/>
            </a:pPr>
            <a:r>
              <a:t>• Real M365 operations (email, calendar, Teams)</a:t>
            </a:r>
          </a:p>
          <a:p>
            <a:pPr lvl="1">
              <a:defRPr sz="1800"/>
            </a:pPr>
            <a:r>
              <a:t>• Automated provisioning + licensing</a:t>
            </a:r>
          </a:p>
          <a:p>
            <a:pPr lvl="1">
              <a:defRPr sz="1800"/>
            </a:pPr>
            <a:r>
              <a:t>• Cybersecurity telemetry generation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